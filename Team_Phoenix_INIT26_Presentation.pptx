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859500" cy="10287000"/>
  <p:notesSz cx="6858000" cy="9144000"/>
  <p:embeddedFontLst>
    <p:embeddedFont>
      <p:font typeface="Antonio Bold" panose="020B0604020202020204" charset="0"/>
      <p:regular r:id="rId10"/>
    </p:embeddedFont>
    <p:embeddedFont>
      <p:font typeface="Segoe UI" panose="020B0502040204020203" pitchFamily="34" charset="0"/>
      <p:regular r:id="rId11"/>
      <p:bold r:id="rId12"/>
      <p:italic r:id="rId13"/>
      <p:bold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896"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Yokeshwaran03-2005/API-SENTINEL" TargetMode="External"/><Relationship Id="rId2" Type="http://schemas.openxmlformats.org/officeDocument/2006/relationships/hyperlink" Target="https://apisentinel-psi.vercel.ap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45874" y="620428"/>
            <a:ext cx="1184926" cy="1050798"/>
          </a:xfrm>
          <a:custGeom>
            <a:avLst/>
            <a:gdLst/>
            <a:ahLst/>
            <a:cxnLst/>
            <a:rect l="l" t="t" r="r" b="b"/>
            <a:pathLst>
              <a:path w="1184926" h="1050798">
                <a:moveTo>
                  <a:pt x="0" y="0"/>
                </a:moveTo>
                <a:lnTo>
                  <a:pt x="1184926" y="0"/>
                </a:lnTo>
                <a:lnTo>
                  <a:pt x="1184926" y="1050799"/>
                </a:lnTo>
                <a:lnTo>
                  <a:pt x="0" y="1050799"/>
                </a:lnTo>
                <a:lnTo>
                  <a:pt x="0" y="0"/>
                </a:lnTo>
                <a:close/>
              </a:path>
            </a:pathLst>
          </a:custGeom>
          <a:blipFill>
            <a:blip r:embed="rId2"/>
            <a:stretch>
              <a:fillRect l="-27031" t="-28043" r="-20273" b="-38064"/>
            </a:stretch>
          </a:blipFill>
        </p:spPr>
        <p:txBody>
          <a:bodyPr/>
          <a:lstStyle/>
          <a:p>
            <a:endParaRPr lang="en-IN"/>
          </a:p>
        </p:txBody>
      </p:sp>
      <p:grpSp>
        <p:nvGrpSpPr>
          <p:cNvPr id="3" name="Group 3"/>
          <p:cNvGrpSpPr/>
          <p:nvPr/>
        </p:nvGrpSpPr>
        <p:grpSpPr>
          <a:xfrm>
            <a:off x="9716904" y="523542"/>
            <a:ext cx="6183758" cy="1244571"/>
            <a:chOff x="0" y="0"/>
            <a:chExt cx="8245010" cy="1659429"/>
          </a:xfrm>
        </p:grpSpPr>
        <p:sp>
          <p:nvSpPr>
            <p:cNvPr id="4" name="Freeform 4"/>
            <p:cNvSpPr/>
            <p:nvPr/>
          </p:nvSpPr>
          <p:spPr>
            <a:xfrm>
              <a:off x="1008656" y="0"/>
              <a:ext cx="1982708" cy="1659429"/>
            </a:xfrm>
            <a:custGeom>
              <a:avLst/>
              <a:gdLst/>
              <a:ahLst/>
              <a:cxnLst/>
              <a:rect l="l" t="t" r="r" b="b"/>
              <a:pathLst>
                <a:path w="1982708" h="1659429">
                  <a:moveTo>
                    <a:pt x="0" y="0"/>
                  </a:moveTo>
                  <a:lnTo>
                    <a:pt x="1982708" y="0"/>
                  </a:lnTo>
                  <a:lnTo>
                    <a:pt x="1982708" y="1659429"/>
                  </a:lnTo>
                  <a:lnTo>
                    <a:pt x="0" y="1659429"/>
                  </a:lnTo>
                  <a:lnTo>
                    <a:pt x="0" y="0"/>
                  </a:lnTo>
                  <a:close/>
                </a:path>
              </a:pathLst>
            </a:custGeom>
            <a:blipFill>
              <a:blip r:embed="rId3"/>
              <a:stretch>
                <a:fillRect l="-58459" r="-276320"/>
              </a:stretch>
            </a:blipFill>
          </p:spPr>
          <p:txBody>
            <a:bodyPr/>
            <a:lstStyle/>
            <a:p>
              <a:endParaRPr lang="en-IN"/>
            </a:p>
          </p:txBody>
        </p:sp>
        <p:sp>
          <p:nvSpPr>
            <p:cNvPr id="5" name="Freeform 5"/>
            <p:cNvSpPr/>
            <p:nvPr/>
          </p:nvSpPr>
          <p:spPr>
            <a:xfrm>
              <a:off x="0" y="0"/>
              <a:ext cx="1008656" cy="1659429"/>
            </a:xfrm>
            <a:custGeom>
              <a:avLst/>
              <a:gdLst/>
              <a:ahLst/>
              <a:cxnLst/>
              <a:rect l="l" t="t" r="r" b="b"/>
              <a:pathLst>
                <a:path w="1008656" h="1659429">
                  <a:moveTo>
                    <a:pt x="0" y="0"/>
                  </a:moveTo>
                  <a:lnTo>
                    <a:pt x="1008656" y="0"/>
                  </a:lnTo>
                  <a:lnTo>
                    <a:pt x="1008656" y="1659429"/>
                  </a:lnTo>
                  <a:lnTo>
                    <a:pt x="0" y="1659429"/>
                  </a:lnTo>
                  <a:lnTo>
                    <a:pt x="0" y="0"/>
                  </a:lnTo>
                  <a:close/>
                </a:path>
              </a:pathLst>
            </a:custGeom>
            <a:blipFill>
              <a:blip r:embed="rId4"/>
              <a:stretch>
                <a:fillRect l="-14912" r="-739730"/>
              </a:stretch>
            </a:blipFill>
          </p:spPr>
          <p:txBody>
            <a:bodyPr/>
            <a:lstStyle/>
            <a:p>
              <a:endParaRPr lang="en-IN"/>
            </a:p>
          </p:txBody>
        </p:sp>
        <p:sp>
          <p:nvSpPr>
            <p:cNvPr id="6" name="Freeform 6"/>
            <p:cNvSpPr/>
            <p:nvPr/>
          </p:nvSpPr>
          <p:spPr>
            <a:xfrm>
              <a:off x="2766385" y="0"/>
              <a:ext cx="5478625" cy="1659429"/>
            </a:xfrm>
            <a:custGeom>
              <a:avLst/>
              <a:gdLst/>
              <a:ahLst/>
              <a:cxnLst/>
              <a:rect l="l" t="t" r="r" b="b"/>
              <a:pathLst>
                <a:path w="5478625" h="1659429">
                  <a:moveTo>
                    <a:pt x="0" y="0"/>
                  </a:moveTo>
                  <a:lnTo>
                    <a:pt x="5478625" y="0"/>
                  </a:lnTo>
                  <a:lnTo>
                    <a:pt x="5478625" y="1659429"/>
                  </a:lnTo>
                  <a:lnTo>
                    <a:pt x="0" y="1659429"/>
                  </a:lnTo>
                  <a:lnTo>
                    <a:pt x="0" y="0"/>
                  </a:lnTo>
                  <a:close/>
                </a:path>
              </a:pathLst>
            </a:custGeom>
            <a:blipFill>
              <a:blip r:embed="rId3"/>
              <a:stretch>
                <a:fillRect l="-57346"/>
              </a:stretch>
            </a:blipFill>
          </p:spPr>
          <p:txBody>
            <a:bodyPr/>
            <a:lstStyle/>
            <a:p>
              <a:endParaRPr lang="en-IN"/>
            </a:p>
          </p:txBody>
        </p:sp>
      </p:grpSp>
      <p:sp>
        <p:nvSpPr>
          <p:cNvPr id="7" name="TextBox 7"/>
          <p:cNvSpPr txBox="1"/>
          <p:nvPr/>
        </p:nvSpPr>
        <p:spPr>
          <a:xfrm>
            <a:off x="3111988" y="3479703"/>
            <a:ext cx="12635525" cy="3565719"/>
          </a:xfrm>
          <a:prstGeom prst="rect">
            <a:avLst/>
          </a:prstGeom>
        </p:spPr>
        <p:txBody>
          <a:bodyPr lIns="0" tIns="0" rIns="0" bIns="0" rtlCol="0" anchor="t">
            <a:spAutoFit/>
          </a:bodyPr>
          <a:lstStyle/>
          <a:p>
            <a:pPr algn="ctr">
              <a:lnSpc>
                <a:spcPts val="27516"/>
              </a:lnSpc>
            </a:pPr>
            <a:r>
              <a:rPr lang="en-US" sz="25015" b="1" spc="-625" dirty="0">
                <a:solidFill>
                  <a:srgbClr val="FFFFFF"/>
                </a:solidFill>
                <a:latin typeface="Antonio Bold"/>
                <a:ea typeface="Antonio Bold"/>
                <a:cs typeface="Antonio Bold"/>
                <a:sym typeface="Antonio Bold"/>
              </a:rPr>
              <a:t>INIT’26</a:t>
            </a:r>
          </a:p>
        </p:txBody>
      </p:sp>
      <p:grpSp>
        <p:nvGrpSpPr>
          <p:cNvPr id="8" name="Group 8"/>
          <p:cNvGrpSpPr/>
          <p:nvPr/>
        </p:nvGrpSpPr>
        <p:grpSpPr>
          <a:xfrm>
            <a:off x="4138413" y="4202072"/>
            <a:ext cx="10582674" cy="1558010"/>
            <a:chOff x="0" y="0"/>
            <a:chExt cx="14110232" cy="2077347"/>
          </a:xfrm>
        </p:grpSpPr>
        <p:sp>
          <p:nvSpPr>
            <p:cNvPr id="9" name="Freeform 9"/>
            <p:cNvSpPr/>
            <p:nvPr/>
          </p:nvSpPr>
          <p:spPr>
            <a:xfrm rot="5400000">
              <a:off x="-604319" y="604319"/>
              <a:ext cx="2077347" cy="868709"/>
            </a:xfrm>
            <a:custGeom>
              <a:avLst/>
              <a:gdLst/>
              <a:ahLst/>
              <a:cxnLst/>
              <a:rect l="l" t="t" r="r" b="b"/>
              <a:pathLst>
                <a:path w="2077347" h="868709">
                  <a:moveTo>
                    <a:pt x="0" y="0"/>
                  </a:moveTo>
                  <a:lnTo>
                    <a:pt x="2077347" y="0"/>
                  </a:lnTo>
                  <a:lnTo>
                    <a:pt x="2077347" y="868709"/>
                  </a:lnTo>
                  <a:lnTo>
                    <a:pt x="0" y="86870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0" name="Freeform 10"/>
            <p:cNvSpPr/>
            <p:nvPr/>
          </p:nvSpPr>
          <p:spPr>
            <a:xfrm rot="5400000" flipH="1" flipV="1">
              <a:off x="12637204" y="604319"/>
              <a:ext cx="2077347" cy="868709"/>
            </a:xfrm>
            <a:custGeom>
              <a:avLst/>
              <a:gdLst/>
              <a:ahLst/>
              <a:cxnLst/>
              <a:rect l="l" t="t" r="r" b="b"/>
              <a:pathLst>
                <a:path w="2077347" h="868709">
                  <a:moveTo>
                    <a:pt x="2077347" y="868709"/>
                  </a:moveTo>
                  <a:lnTo>
                    <a:pt x="0" y="868709"/>
                  </a:lnTo>
                  <a:lnTo>
                    <a:pt x="0" y="0"/>
                  </a:lnTo>
                  <a:lnTo>
                    <a:pt x="2077347" y="0"/>
                  </a:lnTo>
                  <a:lnTo>
                    <a:pt x="2077347" y="86870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grpSp>
      <p:sp>
        <p:nvSpPr>
          <p:cNvPr id="21" name="AutoShape 21"/>
          <p:cNvSpPr/>
          <p:nvPr/>
        </p:nvSpPr>
        <p:spPr>
          <a:xfrm>
            <a:off x="16272137" y="460047"/>
            <a:ext cx="0" cy="1371560"/>
          </a:xfrm>
          <a:prstGeom prst="line">
            <a:avLst/>
          </a:prstGeom>
          <a:ln w="38100" cap="flat">
            <a:solidFill>
              <a:srgbClr val="FFFFFF"/>
            </a:solidFill>
            <a:prstDash val="solid"/>
            <a:headEnd type="none" w="sm" len="sm"/>
            <a:tailEnd type="none" w="sm" len="sm"/>
          </a:ln>
        </p:spPr>
        <p:txBody>
          <a:bodyPr/>
          <a:lstStyle/>
          <a:p>
            <a:endParaRPr lang="en-IN"/>
          </a:p>
        </p:txBody>
      </p:sp>
      <p:sp>
        <p:nvSpPr>
          <p:cNvPr id="12" name="Rectangle: Rounded Corners 11">
            <a:extLst>
              <a:ext uri="{FF2B5EF4-FFF2-40B4-BE49-F238E27FC236}">
                <a16:creationId xmlns:a16="http://schemas.microsoft.com/office/drawing/2014/main" id="{E17F563A-4736-37D6-B170-0E0F603C3A35}"/>
              </a:ext>
            </a:extLst>
          </p:cNvPr>
          <p:cNvSpPr/>
          <p:nvPr/>
        </p:nvSpPr>
        <p:spPr>
          <a:xfrm>
            <a:off x="4038600" y="7493000"/>
            <a:ext cx="10795000" cy="660400"/>
          </a:xfrm>
          <a:prstGeom prst="roundRect">
            <a:avLst/>
          </a:prstGeom>
          <a:solidFill>
            <a:srgbClr val="111827"/>
          </a:solidFill>
          <a:ln w="254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b="1">
                <a:solidFill>
                  <a:srgbClr val="FFFFFF"/>
                </a:solidFill>
                <a:latin typeface="Antonio Bold" panose="020B0604020202020204" charset="0"/>
              </a:rPr>
              <a:t>TEAM: PHOENIX   |   TRACK: CYBERSECURITY   |   PROJECT: API SENTINEL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SLIDE 1 : TITLE SLIDE</a:t>
            </a:r>
          </a:p>
        </p:txBody>
      </p:sp>
      <p:sp>
        <p:nvSpPr>
          <p:cNvPr id="2" name="Rectangle: Rounded Corners 1">
            <a:extLst>
              <a:ext uri="{FF2B5EF4-FFF2-40B4-BE49-F238E27FC236}">
                <a16:creationId xmlns:a16="http://schemas.microsoft.com/office/drawing/2014/main" id="{D6A930CA-6C98-1545-CDE8-BE9238C8F512}"/>
              </a:ext>
            </a:extLst>
          </p:cNvPr>
          <p:cNvSpPr/>
          <p:nvPr/>
        </p:nvSpPr>
        <p:spPr>
          <a:xfrm>
            <a:off x="1460500" y="1778000"/>
            <a:ext cx="15938500" cy="7556500"/>
          </a:xfrm>
          <a:prstGeom prst="roundRect">
            <a:avLst/>
          </a:prstGeom>
          <a:solidFill>
            <a:srgbClr val="111827"/>
          </a:solidFill>
          <a:ln w="254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508000" tIns="381000" rIns="508000" bIns="317500" rtlCol="0" anchor="ctr"/>
          <a:lstStyle/>
          <a:p>
            <a:pPr algn="ctr"/>
            <a:r>
              <a:rPr lang="en-US" sz="2400" b="1">
                <a:solidFill>
                  <a:srgbClr val="22C55E"/>
                </a:solidFill>
                <a:latin typeface="Antonio Bold" panose="020B0604020202020204" charset="0"/>
              </a:rPr>
              <a:t>TRACK : </a:t>
            </a:r>
          </a:p>
          <a:p>
            <a:pPr algn="ctr"/>
            <a:r>
              <a:rPr lang="en-US" sz="2000" b="1">
                <a:solidFill>
                  <a:srgbClr val="FFFFFF"/>
                </a:solidFill>
                <a:latin typeface="Segoe UI" panose="020B0502040204020203" pitchFamily="34" charset="0"/>
              </a:rPr>
              <a:t>Cybersecurity</a:t>
            </a:r>
          </a:p>
          <a:p>
            <a:pPr algn="ctr"/>
            <a:endParaRPr lang="en-US" sz="2000" b="1">
              <a:solidFill>
                <a:srgbClr val="FFFFFF"/>
              </a:solidFill>
              <a:latin typeface="Segoe UI" panose="020B0502040204020203" pitchFamily="34" charset="0"/>
            </a:endParaRPr>
          </a:p>
          <a:p>
            <a:pPr algn="ctr"/>
            <a:r>
              <a:rPr lang="en-US" sz="2400" b="1">
                <a:solidFill>
                  <a:srgbClr val="22C55E"/>
                </a:solidFill>
                <a:latin typeface="Antonio Bold" panose="020B0604020202020204" charset="0"/>
              </a:rPr>
              <a:t>PROBLEM STATEMENT : </a:t>
            </a:r>
          </a:p>
          <a:p>
            <a:pPr algn="ctr"/>
            <a:r>
              <a:rPr lang="en-US" sz="1600">
                <a:solidFill>
                  <a:srgbClr val="E2E8F0"/>
                </a:solidFill>
                <a:latin typeface="Segoe UI" panose="020B0502040204020203" pitchFamily="34" charset="0"/>
              </a:rPr>
              <a:t>Modern cloud and microservice architectures rely extensively on distributed REST APIs. Traditional WAFs and perimeter firewalls lack runtime context and fail to inspect dynamic request payloads in real time. Consequently, organizations suffer severe data exfiltration, credential abuse, account takeovers, and silent privilege escalation from OWASP API Top 10 vulnerabilities (including SQL injection, BOLA/IDOR object enumeration, sensitive token exposure, and automated brute-force scraping).</a:t>
            </a:r>
          </a:p>
          <a:p>
            <a:pPr algn="ctr"/>
            <a:endParaRPr lang="en-US" sz="1600">
              <a:solidFill>
                <a:srgbClr val="E2E8F0"/>
              </a:solidFill>
              <a:latin typeface="Segoe UI" panose="020B0502040204020203" pitchFamily="34" charset="0"/>
            </a:endParaRPr>
          </a:p>
          <a:p>
            <a:pPr algn="ctr"/>
            <a:r>
              <a:rPr lang="en-US" sz="2400" b="1">
                <a:solidFill>
                  <a:srgbClr val="22C55E"/>
                </a:solidFill>
                <a:latin typeface="Antonio Bold" panose="020B0604020202020204" charset="0"/>
              </a:rPr>
              <a:t>TEAM NAME : </a:t>
            </a:r>
          </a:p>
          <a:p>
            <a:pPr algn="ctr"/>
            <a:r>
              <a:rPr lang="en-US" sz="2000" b="1">
                <a:solidFill>
                  <a:srgbClr val="FFFFFF"/>
                </a:solidFill>
                <a:latin typeface="Segoe UI" panose="020B0502040204020203" pitchFamily="34" charset="0"/>
              </a:rPr>
              <a:t>Phoenix</a:t>
            </a:r>
          </a:p>
          <a:p>
            <a:pPr algn="ctr"/>
            <a:endParaRPr lang="en-US" sz="2000" b="1">
              <a:solidFill>
                <a:srgbClr val="FFFFFF"/>
              </a:solidFill>
              <a:latin typeface="Segoe UI" panose="020B0502040204020203" pitchFamily="34" charset="0"/>
            </a:endParaRPr>
          </a:p>
          <a:p>
            <a:pPr algn="ctr"/>
            <a:r>
              <a:rPr lang="en-US" sz="2400" b="1">
                <a:solidFill>
                  <a:srgbClr val="22C55E"/>
                </a:solidFill>
                <a:latin typeface="Antonio Bold" panose="020B0604020202020204" charset="0"/>
              </a:rPr>
              <a:t>IDEA TITLE : </a:t>
            </a:r>
          </a:p>
          <a:p>
            <a:pPr algn="ctr"/>
            <a:r>
              <a:rPr lang="en-US" sz="2000" b="1">
                <a:solidFill>
                  <a:srgbClr val="06B6D4"/>
                </a:solidFill>
                <a:latin typeface="Segoe UI" panose="020B0502040204020203" pitchFamily="34" charset="0"/>
              </a:rPr>
              <a:t>API Sentinel - Autonomous Real-Time API Security, Threat Detection &amp; Zero-Trust Policy Enforcement Platform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SLIDE 2 : PROPOSED SOLUTION</a:t>
            </a:r>
          </a:p>
        </p:txBody>
      </p:sp>
      <p:sp>
        <p:nvSpPr>
          <p:cNvPr id="2" name="Rectangle: Rounded Corners 1">
            <a:extLst>
              <a:ext uri="{FF2B5EF4-FFF2-40B4-BE49-F238E27FC236}">
                <a16:creationId xmlns:a16="http://schemas.microsoft.com/office/drawing/2014/main" id="{A192A530-982A-463B-6B63-143BAFEE717E}"/>
              </a:ext>
            </a:extLst>
          </p:cNvPr>
          <p:cNvSpPr/>
          <p:nvPr/>
        </p:nvSpPr>
        <p:spPr>
          <a:xfrm>
            <a:off x="1460500" y="1778000"/>
            <a:ext cx="5016500" cy="74930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17500" tIns="317500" rIns="317500" rtlCol="0" anchor="ctr"/>
          <a:lstStyle/>
          <a:p>
            <a:pPr algn="ctr"/>
            <a:r>
              <a:rPr lang="en-US" b="1">
                <a:solidFill>
                  <a:srgbClr val="06B6D4"/>
                </a:solidFill>
                <a:latin typeface="Antonio Bold" panose="020B0604020202020204" charset="0"/>
              </a:rPr>
              <a:t>01. INGESTION &amp; INTERCEPTION</a:t>
            </a:r>
          </a:p>
          <a:p>
            <a:pPr algn="ctr"/>
            <a:endParaRPr lang="en-US" b="1">
              <a:solidFill>
                <a:srgbClr val="06B6D4"/>
              </a:solidFill>
              <a:latin typeface="Antonio Bold" panose="020B0604020202020204" charset="0"/>
            </a:endParaRPr>
          </a:p>
          <a:p>
            <a:pPr algn="ctr"/>
            <a:r>
              <a:rPr lang="en-US" b="1">
                <a:solidFill>
                  <a:srgbClr val="FFFFFF"/>
                </a:solidFill>
                <a:latin typeface="Segoe UI" panose="020B0502040204020203" pitchFamily="34" charset="0"/>
              </a:rPr>
              <a:t>Non-Invasive Gateway Interceptor</a:t>
            </a:r>
          </a:p>
          <a:p>
            <a:pPr algn="ctr"/>
            <a:endParaRPr lang="en-US" b="1">
              <a:solidFill>
                <a:srgbClr val="FFFFFF"/>
              </a:solidFill>
              <a:latin typeface="Segoe UI" panose="020B0502040204020203" pitchFamily="34" charset="0"/>
            </a:endParaRPr>
          </a:p>
          <a:p>
            <a:pPr algn="ctr"/>
            <a:r>
              <a:rPr lang="en-US" sz="1400">
                <a:solidFill>
                  <a:srgbClr val="E2E8F0"/>
                </a:solidFill>
                <a:latin typeface="Segoe UI" panose="020B0502040204020203" pitchFamily="34" charset="0"/>
              </a:rPr>
              <a:t>- Transparent HTTP Wrapper: Utilizes CachedBodyHttpServletRequest to safely inspect inbound payload bodies without prematurely consuming the downstream stream.</a:t>
            </a:r>
          </a:p>
          <a:p>
            <a:pPr algn="ctr"/>
            <a:endParaRPr lang="en-US" sz="1400">
              <a:solidFill>
                <a:srgbClr val="E2E8F0"/>
              </a:solidFill>
              <a:latin typeface="Segoe UI" panose="020B0502040204020203" pitchFamily="34" charset="0"/>
            </a:endParaRPr>
          </a:p>
          <a:p>
            <a:pPr algn="ctr"/>
            <a:r>
              <a:rPr lang="en-US" sz="1400">
                <a:solidFill>
                  <a:srgbClr val="E2E8F0"/>
                </a:solidFill>
                <a:latin typeface="Segoe UI" panose="020B0502040204020203" pitchFamily="34" charset="0"/>
              </a:rPr>
              <a:t>- Full-Spectrum Inspection: Parses and correlates HTTP headers, URI query params, route variables, and JSON payloads simultaneously.</a:t>
            </a:r>
          </a:p>
          <a:p>
            <a:pPr algn="ctr"/>
            <a:endParaRPr lang="en-US" sz="1400">
              <a:solidFill>
                <a:srgbClr val="E2E8F0"/>
              </a:solidFill>
              <a:latin typeface="Segoe UI" panose="020B0502040204020203" pitchFamily="34" charset="0"/>
            </a:endParaRPr>
          </a:p>
          <a:p>
            <a:pPr algn="ctr"/>
            <a:r>
              <a:rPr lang="en-US" sz="1400">
                <a:solidFill>
                  <a:srgbClr val="E2E8F0"/>
                </a:solidFill>
                <a:latin typeface="Segoe UI" panose="020B0502040204020203" pitchFamily="34" charset="0"/>
              </a:rPr>
              <a:t>- Zero Disruption: Operates seamlessly as an upstream reverse proxy or embedded servlet filter with under 5ms latency overhead.</a:t>
            </a:r>
          </a:p>
        </p:txBody>
      </p:sp>
      <p:sp>
        <p:nvSpPr>
          <p:cNvPr id="3" name="Rectangle: Rounded Corners 2">
            <a:extLst>
              <a:ext uri="{FF2B5EF4-FFF2-40B4-BE49-F238E27FC236}">
                <a16:creationId xmlns:a16="http://schemas.microsoft.com/office/drawing/2014/main" id="{D0CBF521-24CA-0244-6A52-FB2C4D5D1560}"/>
              </a:ext>
            </a:extLst>
          </p:cNvPr>
          <p:cNvSpPr/>
          <p:nvPr/>
        </p:nvSpPr>
        <p:spPr>
          <a:xfrm>
            <a:off x="6921500" y="1778000"/>
            <a:ext cx="5016500" cy="74930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317500" tIns="317500" rIns="317500" rtlCol="0" anchor="ctr"/>
          <a:lstStyle/>
          <a:p>
            <a:pPr algn="ctr"/>
            <a:r>
              <a:rPr lang="en-US" b="1">
                <a:solidFill>
                  <a:srgbClr val="22C55E"/>
                </a:solidFill>
                <a:latin typeface="Antonio Bold" panose="020B0604020202020204" charset="0"/>
              </a:rPr>
              <a:t>02. THREAT DETECTION &amp; SCORING</a:t>
            </a:r>
          </a:p>
          <a:p>
            <a:pPr algn="ctr"/>
            <a:endParaRPr lang="en-US" b="1">
              <a:solidFill>
                <a:srgbClr val="22C55E"/>
              </a:solidFill>
              <a:latin typeface="Antonio Bold" panose="020B0604020202020204" charset="0"/>
            </a:endParaRPr>
          </a:p>
          <a:p>
            <a:pPr algn="ctr"/>
            <a:r>
              <a:rPr lang="en-US" b="1">
                <a:solidFill>
                  <a:srgbClr val="FFFFFF"/>
                </a:solidFill>
                <a:latin typeface="Segoe UI" panose="020B0502040204020203" pitchFamily="34" charset="0"/>
              </a:rPr>
              <a:t>Multi-Vector Heuristic Engine</a:t>
            </a:r>
          </a:p>
          <a:p>
            <a:pPr algn="ctr"/>
            <a:endParaRPr lang="en-US" b="1">
              <a:solidFill>
                <a:srgbClr val="FFFFFF"/>
              </a:solidFill>
              <a:latin typeface="Segoe UI" panose="020B0502040204020203" pitchFamily="34" charset="0"/>
            </a:endParaRPr>
          </a:p>
          <a:p>
            <a:pPr algn="ctr"/>
            <a:r>
              <a:rPr lang="en-US" sz="1400">
                <a:solidFill>
                  <a:srgbClr val="E2E8F0"/>
                </a:solidFill>
                <a:latin typeface="Segoe UI" panose="020B0502040204020203" pitchFamily="34" charset="0"/>
              </a:rPr>
              <a:t>- OWASP Top 10 Coverage: Modular detectors scan for SQL Injection, XSS payloads, Credential Abuse, and Sensitive Data Exposure.</a:t>
            </a:r>
          </a:p>
          <a:p>
            <a:pPr algn="ctr"/>
            <a:endParaRPr lang="en-US" sz="1400">
              <a:solidFill>
                <a:srgbClr val="E2E8F0"/>
              </a:solidFill>
              <a:latin typeface="Segoe UI" panose="020B0502040204020203" pitchFamily="34" charset="0"/>
            </a:endParaRPr>
          </a:p>
          <a:p>
            <a:pPr algn="ctr"/>
            <a:r>
              <a:rPr lang="en-US" sz="1400">
                <a:solidFill>
                  <a:srgbClr val="E2E8F0"/>
                </a:solidFill>
                <a:latin typeface="Segoe UI" panose="020B0502040204020203" pitchFamily="34" charset="0"/>
              </a:rPr>
              <a:t>- IDOR / BOLA Discovery: Sequential path anomaly detection flags automated resource harvesting and parameter enumeration.</a:t>
            </a:r>
          </a:p>
          <a:p>
            <a:pPr algn="ctr"/>
            <a:endParaRPr lang="en-US" sz="1400">
              <a:solidFill>
                <a:srgbClr val="E2E8F0"/>
              </a:solidFill>
              <a:latin typeface="Segoe UI" panose="020B0502040204020203" pitchFamily="34" charset="0"/>
            </a:endParaRPr>
          </a:p>
          <a:p>
            <a:pPr algn="ctr"/>
            <a:r>
              <a:rPr lang="en-US" sz="1400">
                <a:solidFill>
                  <a:srgbClr val="E2E8F0"/>
                </a:solidFill>
                <a:latin typeface="Segoe UI" panose="020B0502040204020203" pitchFamily="34" charset="0"/>
              </a:rPr>
              <a:t>- Dynamic 0-100 Scoring: Weights vector confidence, historical IP reputation, and payload lethality to produce an instant threat score.</a:t>
            </a:r>
          </a:p>
        </p:txBody>
      </p:sp>
      <p:sp>
        <p:nvSpPr>
          <p:cNvPr id="5" name="Rectangle: Rounded Corners 4">
            <a:extLst>
              <a:ext uri="{FF2B5EF4-FFF2-40B4-BE49-F238E27FC236}">
                <a16:creationId xmlns:a16="http://schemas.microsoft.com/office/drawing/2014/main" id="{C8DEBF11-021F-D05E-37A1-D3942213B898}"/>
              </a:ext>
            </a:extLst>
          </p:cNvPr>
          <p:cNvSpPr/>
          <p:nvPr/>
        </p:nvSpPr>
        <p:spPr>
          <a:xfrm>
            <a:off x="12382500" y="1778000"/>
            <a:ext cx="5016500" cy="74930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17500" tIns="317500" rIns="317500" rtlCol="0" anchor="ctr"/>
          <a:lstStyle/>
          <a:p>
            <a:pPr algn="ctr"/>
            <a:r>
              <a:rPr lang="en-US" b="1">
                <a:solidFill>
                  <a:srgbClr val="06B6D4"/>
                </a:solidFill>
                <a:latin typeface="Antonio Bold" panose="020B0604020202020204" charset="0"/>
              </a:rPr>
              <a:t>03. MITIGATION &amp; OBSERVABILITY</a:t>
            </a:r>
          </a:p>
          <a:p>
            <a:pPr algn="ctr"/>
            <a:endParaRPr lang="en-US" b="1">
              <a:solidFill>
                <a:srgbClr val="06B6D4"/>
              </a:solidFill>
              <a:latin typeface="Antonio Bold" panose="020B0604020202020204" charset="0"/>
            </a:endParaRPr>
          </a:p>
          <a:p>
            <a:pPr algn="ctr"/>
            <a:r>
              <a:rPr lang="en-US" b="1">
                <a:solidFill>
                  <a:srgbClr val="FFFFFF"/>
                </a:solidFill>
                <a:latin typeface="Segoe UI" panose="020B0502040204020203" pitchFamily="34" charset="0"/>
              </a:rPr>
              <a:t>Zero-Trust Policy Enforcement</a:t>
            </a:r>
          </a:p>
          <a:p>
            <a:pPr algn="ctr"/>
            <a:endParaRPr lang="en-US" b="1">
              <a:solidFill>
                <a:srgbClr val="FFFFFF"/>
              </a:solidFill>
              <a:latin typeface="Segoe UI" panose="020B0502040204020203" pitchFamily="34" charset="0"/>
            </a:endParaRPr>
          </a:p>
          <a:p>
            <a:pPr algn="ctr"/>
            <a:r>
              <a:rPr lang="en-US" sz="1400">
                <a:solidFill>
                  <a:srgbClr val="E2E8F0"/>
                </a:solidFill>
                <a:latin typeface="Segoe UI" panose="020B0502040204020203" pitchFamily="34" charset="0"/>
              </a:rPr>
              <a:t>- Autonomous Response: Instant verdict determination - ALLOWED, RATE_LIMITED (HTTP 429), or BLOCKED (HTTP 403 Forbidden).</a:t>
            </a:r>
          </a:p>
          <a:p>
            <a:pPr algn="ctr"/>
            <a:endParaRPr lang="en-US" sz="1400">
              <a:solidFill>
                <a:srgbClr val="E2E8F0"/>
              </a:solidFill>
              <a:latin typeface="Segoe UI" panose="020B0502040204020203" pitchFamily="34" charset="0"/>
            </a:endParaRPr>
          </a:p>
          <a:p>
            <a:pPr algn="ctr"/>
            <a:r>
              <a:rPr lang="en-US" sz="1400">
                <a:solidFill>
                  <a:srgbClr val="E2E8F0"/>
                </a:solidFill>
                <a:latin typeface="Segoe UI" panose="020B0502040204020203" pitchFamily="34" charset="0"/>
              </a:rPr>
              <a:t>- Perimeter IP Isolation: Dynamically quarantines aggressive IPs at the gateway perimeter before microservices are impacted.</a:t>
            </a:r>
          </a:p>
          <a:p>
            <a:pPr algn="ctr"/>
            <a:endParaRPr lang="en-US" sz="1400">
              <a:solidFill>
                <a:srgbClr val="E2E8F0"/>
              </a:solidFill>
              <a:latin typeface="Segoe UI" panose="020B0502040204020203" pitchFamily="34" charset="0"/>
            </a:endParaRPr>
          </a:p>
          <a:p>
            <a:pPr algn="ctr"/>
            <a:r>
              <a:rPr lang="en-US" sz="1400">
                <a:solidFill>
                  <a:srgbClr val="E2E8F0"/>
                </a:solidFill>
                <a:latin typeface="Segoe UI" panose="020B0502040204020203" pitchFamily="34" charset="0"/>
              </a:rPr>
              <a:t>- Real-Time SOC Telemetry: Next.js operations console with live threat feeds, forensic payload audits, and interactive attack simulator.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SLIDE 3 : TECHNICAL APPROACH</a:t>
            </a:r>
          </a:p>
        </p:txBody>
      </p:sp>
      <p:sp>
        <p:nvSpPr>
          <p:cNvPr id="2" name="Rectangle: Rounded Corners 1">
            <a:extLst>
              <a:ext uri="{FF2B5EF4-FFF2-40B4-BE49-F238E27FC236}">
                <a16:creationId xmlns:a16="http://schemas.microsoft.com/office/drawing/2014/main" id="{8B7E79E6-31D9-5CD5-5A71-05D5D80FFFE5}"/>
              </a:ext>
            </a:extLst>
          </p:cNvPr>
          <p:cNvSpPr/>
          <p:nvPr/>
        </p:nvSpPr>
        <p:spPr>
          <a:xfrm>
            <a:off x="1460500" y="1778000"/>
            <a:ext cx="7747000" cy="35560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b="1">
                <a:solidFill>
                  <a:srgbClr val="06B6D4"/>
                </a:solidFill>
                <a:latin typeface="Antonio Bold" panose="020B0604020202020204" charset="0"/>
              </a:rPr>
              <a:t>FRONTEND : SECURITY OPERATIONS CENTER (SOC)</a:t>
            </a:r>
          </a:p>
          <a:p>
            <a:pPr algn="ctr"/>
            <a:r>
              <a:rPr lang="en-US" sz="1350">
                <a:solidFill>
                  <a:srgbClr val="E2E8F0"/>
                </a:solidFill>
                <a:latin typeface="Segoe UI" panose="020B0502040204020203" pitchFamily="34" charset="0"/>
              </a:rPr>
              <a:t>- Stack: Next.js 14 (App Router), React 18, TypeScript, Tailwind CSS, Lucide Icons.</a:t>
            </a:r>
          </a:p>
          <a:p>
            <a:pPr algn="ctr"/>
            <a:r>
              <a:rPr lang="en-US" sz="1350">
                <a:solidFill>
                  <a:srgbClr val="E2E8F0"/>
                </a:solidFill>
                <a:latin typeface="Segoe UI" panose="020B0502040204020203" pitchFamily="34" charset="0"/>
              </a:rPr>
              <a:t>- Live Telemetry: Sub-second telemetry aggregation displaying active threats, request verdicts, risk trends, and endpoints.</a:t>
            </a:r>
          </a:p>
          <a:p>
            <a:pPr algn="ctr"/>
            <a:r>
              <a:rPr lang="en-US" sz="1350">
                <a:solidFill>
                  <a:srgbClr val="E2E8F0"/>
                </a:solidFill>
                <a:latin typeface="Segoe UI" panose="020B0502040204020203" pitchFamily="34" charset="0"/>
              </a:rPr>
              <a:t>- Live Production Deployment: Hosted on Vercel Edge Network at https://apisentinel-psi.vercel.app</a:t>
            </a:r>
          </a:p>
          <a:p>
            <a:pPr algn="ctr"/>
            <a:r>
              <a:rPr lang="en-US" sz="1350">
                <a:solidFill>
                  <a:srgbClr val="E2E8F0"/>
                </a:solidFill>
                <a:latin typeface="Segoe UI" panose="020B0502040204020203" pitchFamily="34" charset="0"/>
              </a:rPr>
              <a:t>- Interactive Console: Full audit exploration, policy controls, and offensive attack simulator.</a:t>
            </a:r>
          </a:p>
        </p:txBody>
      </p:sp>
      <p:sp>
        <p:nvSpPr>
          <p:cNvPr id="3" name="Rectangle: Rounded Corners 2">
            <a:extLst>
              <a:ext uri="{FF2B5EF4-FFF2-40B4-BE49-F238E27FC236}">
                <a16:creationId xmlns:a16="http://schemas.microsoft.com/office/drawing/2014/main" id="{BF9E5E57-9C35-9ABC-8FC7-FF44536E9A84}"/>
              </a:ext>
            </a:extLst>
          </p:cNvPr>
          <p:cNvSpPr/>
          <p:nvPr/>
        </p:nvSpPr>
        <p:spPr>
          <a:xfrm>
            <a:off x="9652000" y="1778000"/>
            <a:ext cx="7747000" cy="35560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b="1">
                <a:solidFill>
                  <a:srgbClr val="22C55E"/>
                </a:solidFill>
                <a:latin typeface="Antonio Bold" panose="020B0604020202020204" charset="0"/>
              </a:rPr>
              <a:t>BACKEND : ZERO-TRUST API SECURITY GATEWAY</a:t>
            </a:r>
          </a:p>
          <a:p>
            <a:pPr algn="ctr"/>
            <a:r>
              <a:rPr lang="en-US" sz="1350">
                <a:solidFill>
                  <a:srgbClr val="E2E8F0"/>
                </a:solidFill>
                <a:latin typeface="Segoe UI" panose="020B0502040204020203" pitchFamily="34" charset="0"/>
              </a:rPr>
              <a:t>- Stack: Java 17, Spring Boot 3.2, Spring Security 6 (Stateless Zero-Trust Filter Chain).</a:t>
            </a:r>
          </a:p>
          <a:p>
            <a:pPr algn="ctr"/>
            <a:r>
              <a:rPr lang="en-US" sz="1350">
                <a:solidFill>
                  <a:srgbClr val="E2E8F0"/>
                </a:solidFill>
                <a:latin typeface="Segoe UI" panose="020B0502040204020203" pitchFamily="34" charset="0"/>
              </a:rPr>
              <a:t>- Resilient Architecture: HikariCP connection pooling, graceful shutdowns, and Actuator health probes.</a:t>
            </a:r>
          </a:p>
          <a:p>
            <a:pPr algn="ctr"/>
            <a:r>
              <a:rPr lang="en-US" sz="1350">
                <a:solidFill>
                  <a:srgbClr val="E2E8F0"/>
                </a:solidFill>
                <a:latin typeface="Segoe UI" panose="020B0502040204020203" pitchFamily="34" charset="0"/>
              </a:rPr>
              <a:t>- Cloud Deployment: Containerized multi-stage Docker build deployed on Render at https://api-backend-wc8m.onrender.com</a:t>
            </a:r>
          </a:p>
          <a:p>
            <a:pPr algn="ctr"/>
            <a:r>
              <a:rPr lang="en-US" sz="1350">
                <a:solidFill>
                  <a:srgbClr val="E2E8F0"/>
                </a:solidFill>
                <a:latin typeface="Segoe UI" panose="020B0502040204020203" pitchFamily="34" charset="0"/>
              </a:rPr>
              <a:t>- Performance: Non-blocking in-memory evaluation with under 5ms processing latency per request.</a:t>
            </a:r>
          </a:p>
        </p:txBody>
      </p:sp>
      <p:sp>
        <p:nvSpPr>
          <p:cNvPr id="5" name="Rectangle: Rounded Corners 4">
            <a:extLst>
              <a:ext uri="{FF2B5EF4-FFF2-40B4-BE49-F238E27FC236}">
                <a16:creationId xmlns:a16="http://schemas.microsoft.com/office/drawing/2014/main" id="{709464AC-E2E7-98F9-193C-FD3615161B4C}"/>
              </a:ext>
            </a:extLst>
          </p:cNvPr>
          <p:cNvSpPr/>
          <p:nvPr/>
        </p:nvSpPr>
        <p:spPr>
          <a:xfrm>
            <a:off x="1460500" y="5651500"/>
            <a:ext cx="7747000" cy="35560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b="1">
                <a:solidFill>
                  <a:srgbClr val="22C55E"/>
                </a:solidFill>
                <a:latin typeface="Antonio Bold" panose="020B0604020202020204" charset="0"/>
              </a:rPr>
              <a:t>CORE DETECTION &amp; SCORING PIPELINE</a:t>
            </a:r>
          </a:p>
          <a:p>
            <a:pPr algn="ctr"/>
            <a:r>
              <a:rPr lang="en-US" sz="1350">
                <a:solidFill>
                  <a:srgbClr val="E2E8F0"/>
                </a:solidFill>
                <a:latin typeface="Segoe UI" panose="020B0502040204020203" pitchFamily="34" charset="0"/>
              </a:rPr>
              <a:t>- Interception Filter: Intercepts raw byte streams and constructs thread-safe ApiRequestContext.</a:t>
            </a:r>
          </a:p>
          <a:p>
            <a:pPr algn="ctr"/>
            <a:r>
              <a:rPr lang="en-US" sz="1350">
                <a:solidFill>
                  <a:srgbClr val="E2E8F0"/>
                </a:solidFill>
                <a:latin typeface="Segoe UI" panose="020B0502040204020203" pitchFamily="34" charset="0"/>
              </a:rPr>
              <a:t>- Modular Detectors: InjectionDetector (SQLi/XSS), EnumerationDetector (BOLA), AuthenticationAbuseDetector, RateAbuseDetector, SensitiveDataExposureDetector.</a:t>
            </a:r>
          </a:p>
          <a:p>
            <a:pPr algn="ctr"/>
            <a:r>
              <a:rPr lang="en-US" sz="1350">
                <a:solidFill>
                  <a:srgbClr val="E2E8F0"/>
                </a:solidFill>
                <a:latin typeface="Segoe UI" panose="020B0502040204020203" pitchFamily="34" charset="0"/>
              </a:rPr>
              <a:t>- Scoring Engine: ThreatScoringEngine evaluates weighted vector risk into deterministic score (0-100).</a:t>
            </a:r>
          </a:p>
          <a:p>
            <a:pPr algn="ctr"/>
            <a:r>
              <a:rPr lang="en-US" sz="1350">
                <a:solidFill>
                  <a:srgbClr val="E2E8F0"/>
                </a:solidFill>
                <a:latin typeface="Segoe UI" panose="020B0502040204020203" pitchFamily="34" charset="0"/>
              </a:rPr>
              <a:t>- Enforcement Engine: DefaultPolicyEngine matches active rules and returns instant verdict.</a:t>
            </a:r>
          </a:p>
        </p:txBody>
      </p:sp>
      <p:sp>
        <p:nvSpPr>
          <p:cNvPr id="6" name="Rectangle: Rounded Corners 5">
            <a:extLst>
              <a:ext uri="{FF2B5EF4-FFF2-40B4-BE49-F238E27FC236}">
                <a16:creationId xmlns:a16="http://schemas.microsoft.com/office/drawing/2014/main" id="{75527663-180A-0B3B-E34D-51BA72A80378}"/>
              </a:ext>
            </a:extLst>
          </p:cNvPr>
          <p:cNvSpPr/>
          <p:nvPr/>
        </p:nvSpPr>
        <p:spPr>
          <a:xfrm>
            <a:off x="9652000" y="5651500"/>
            <a:ext cx="7747000" cy="35560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b="1">
                <a:solidFill>
                  <a:srgbClr val="06B6D4"/>
                </a:solidFill>
                <a:latin typeface="Antonio Bold" panose="020B0604020202020204" charset="0"/>
              </a:rPr>
              <a:t>PERSISTENCE &amp; MONOREPO CLOUD ARCHITECTURE</a:t>
            </a:r>
          </a:p>
          <a:p>
            <a:pPr algn="ctr"/>
            <a:r>
              <a:rPr lang="en-US" sz="1350">
                <a:solidFill>
                  <a:srgbClr val="E2E8F0"/>
                </a:solidFill>
                <a:latin typeface="Segoe UI" panose="020B0502040204020203" pitchFamily="34" charset="0"/>
              </a:rPr>
              <a:t>- Cloud Database: Managed PostgreSQL database on Render storing security incidents, request audit logs, endpoints, and firewall policies.</a:t>
            </a:r>
          </a:p>
          <a:p>
            <a:pPr algn="ctr"/>
            <a:r>
              <a:rPr lang="en-US" sz="1350">
                <a:solidFill>
                  <a:srgbClr val="E2E8F0"/>
                </a:solidFill>
                <a:latin typeface="Segoe UI" panose="020B0502040204020203" pitchFamily="34" charset="0"/>
              </a:rPr>
              <a:t>- Single GitHub Monorepo: Houses /backend, /frontend, /database, and orchestration in one repo.</a:t>
            </a:r>
          </a:p>
          <a:p>
            <a:pPr algn="ctr"/>
            <a:r>
              <a:rPr lang="en-US" sz="1350">
                <a:solidFill>
                  <a:srgbClr val="E2E8F0"/>
                </a:solidFill>
                <a:latin typeface="Segoe UI" panose="020B0502040204020203" pitchFamily="34" charset="0"/>
              </a:rPr>
              <a:t>- Local Development: docker-compose.yml runs complete local MySQL/Spring/Next.js environment.</a:t>
            </a:r>
          </a:p>
          <a:p>
            <a:pPr algn="ctr"/>
            <a:r>
              <a:rPr lang="en-US" sz="1350">
                <a:solidFill>
                  <a:srgbClr val="E2E8F0"/>
                </a:solidFill>
                <a:latin typeface="Segoe UI" panose="020B0502040204020203" pitchFamily="34" charset="0"/>
              </a:rPr>
              <a:t>- Cross-Origin Security: Fine-grained CORS controls securing browser clients and API gateways.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6136995"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SLIDE 4 : HOW IT WORKS ? (USER FLOW)</a:t>
            </a:r>
          </a:p>
        </p:txBody>
      </p:sp>
      <p:sp>
        <p:nvSpPr>
          <p:cNvPr id="2" name="Rectangle: Rounded Corners 1">
            <a:extLst>
              <a:ext uri="{FF2B5EF4-FFF2-40B4-BE49-F238E27FC236}">
                <a16:creationId xmlns:a16="http://schemas.microsoft.com/office/drawing/2014/main" id="{3D3AB14B-2FE2-E842-EC38-E3A04232CBEF}"/>
              </a:ext>
            </a:extLst>
          </p:cNvPr>
          <p:cNvSpPr/>
          <p:nvPr/>
        </p:nvSpPr>
        <p:spPr>
          <a:xfrm>
            <a:off x="1460500" y="1778000"/>
            <a:ext cx="5016500" cy="34925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sz="1700" b="1">
                <a:solidFill>
                  <a:srgbClr val="06B6D4"/>
                </a:solidFill>
                <a:latin typeface="Antonio Bold" panose="020B0604020202020204" charset="0"/>
              </a:rPr>
              <a:t>STEP 1 : Inbound Request Ingestion</a:t>
            </a:r>
          </a:p>
          <a:p>
            <a:pPr algn="ctr"/>
            <a:endParaRPr lang="en-US" sz="1700" b="1">
              <a:solidFill>
                <a:srgbClr val="06B6D4"/>
              </a:solidFill>
              <a:latin typeface="Antonio Bold" panose="020B0604020202020204" charset="0"/>
            </a:endParaRPr>
          </a:p>
          <a:p>
            <a:pPr algn="ctr"/>
            <a:r>
              <a:rPr lang="en-US" sz="1400">
                <a:solidFill>
                  <a:srgbClr val="E2E8F0"/>
                </a:solidFill>
                <a:latin typeface="Segoe UI" panose="020B0502040204020203" pitchFamily="34" charset="0"/>
              </a:rPr>
              <a:t>Client or attacker issues HTTP API call (GET, POST, PUT, DELETE) targeting protected microservice endpoints.</a:t>
            </a:r>
          </a:p>
        </p:txBody>
      </p:sp>
      <p:sp>
        <p:nvSpPr>
          <p:cNvPr id="3" name="Rectangle: Rounded Corners 2">
            <a:extLst>
              <a:ext uri="{FF2B5EF4-FFF2-40B4-BE49-F238E27FC236}">
                <a16:creationId xmlns:a16="http://schemas.microsoft.com/office/drawing/2014/main" id="{48E46331-396D-99B3-20A3-B780331B4BED}"/>
              </a:ext>
            </a:extLst>
          </p:cNvPr>
          <p:cNvSpPr/>
          <p:nvPr/>
        </p:nvSpPr>
        <p:spPr>
          <a:xfrm>
            <a:off x="6921500" y="1778000"/>
            <a:ext cx="5016500" cy="34925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sz="1700" b="1">
                <a:solidFill>
                  <a:srgbClr val="22C55E"/>
                </a:solidFill>
                <a:latin typeface="Antonio Bold" panose="020B0604020202020204" charset="0"/>
              </a:rPr>
              <a:t>STEP 2 : Deep Payload Caching</a:t>
            </a:r>
          </a:p>
          <a:p>
            <a:pPr algn="ctr"/>
            <a:endParaRPr lang="en-US" sz="1700" b="1">
              <a:solidFill>
                <a:srgbClr val="22C55E"/>
              </a:solidFill>
              <a:latin typeface="Antonio Bold" panose="020B0604020202020204" charset="0"/>
            </a:endParaRPr>
          </a:p>
          <a:p>
            <a:pPr algn="ctr"/>
            <a:r>
              <a:rPr lang="en-US" sz="1400">
                <a:solidFill>
                  <a:srgbClr val="E2E8F0"/>
                </a:solidFill>
                <a:latin typeface="Segoe UI" panose="020B0502040204020203" pitchFamily="34" charset="0"/>
              </a:rPr>
              <a:t>TrafficInterceptionFilter wraps stream using CachedBodyHttpServletRequest and extracts headers, URI parameters, and body.</a:t>
            </a:r>
          </a:p>
        </p:txBody>
      </p:sp>
      <p:sp>
        <p:nvSpPr>
          <p:cNvPr id="5" name="Rectangle: Rounded Corners 4">
            <a:extLst>
              <a:ext uri="{FF2B5EF4-FFF2-40B4-BE49-F238E27FC236}">
                <a16:creationId xmlns:a16="http://schemas.microsoft.com/office/drawing/2014/main" id="{CCDF1271-9C5C-93AF-956E-6E1E7C6BD42D}"/>
              </a:ext>
            </a:extLst>
          </p:cNvPr>
          <p:cNvSpPr/>
          <p:nvPr/>
        </p:nvSpPr>
        <p:spPr>
          <a:xfrm>
            <a:off x="12382500" y="1778000"/>
            <a:ext cx="5016500" cy="34925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sz="1700" b="1">
                <a:solidFill>
                  <a:srgbClr val="06B6D4"/>
                </a:solidFill>
                <a:latin typeface="Antonio Bold" panose="020B0604020202020204" charset="0"/>
              </a:rPr>
              <a:t>STEP 3 : Multi-Vector Heuristics</a:t>
            </a:r>
          </a:p>
          <a:p>
            <a:pPr algn="ctr"/>
            <a:endParaRPr lang="en-US" sz="1700" b="1">
              <a:solidFill>
                <a:srgbClr val="06B6D4"/>
              </a:solidFill>
              <a:latin typeface="Antonio Bold" panose="020B0604020202020204" charset="0"/>
            </a:endParaRPr>
          </a:p>
          <a:p>
            <a:pPr algn="ctr"/>
            <a:r>
              <a:rPr lang="en-US" sz="1400">
                <a:solidFill>
                  <a:srgbClr val="E2E8F0"/>
                </a:solidFill>
                <a:latin typeface="Segoe UI" panose="020B0502040204020203" pitchFamily="34" charset="0"/>
              </a:rPr>
              <a:t>Engine executes parallel modular detectors scanning for SQL injection tokens, XSS scripts, token leakage, and BOLA enumeration patterns.</a:t>
            </a:r>
          </a:p>
        </p:txBody>
      </p:sp>
      <p:sp>
        <p:nvSpPr>
          <p:cNvPr id="6" name="Rectangle: Rounded Corners 5">
            <a:extLst>
              <a:ext uri="{FF2B5EF4-FFF2-40B4-BE49-F238E27FC236}">
                <a16:creationId xmlns:a16="http://schemas.microsoft.com/office/drawing/2014/main" id="{9CA66175-2463-7B15-2715-6A81FB3CBE40}"/>
              </a:ext>
            </a:extLst>
          </p:cNvPr>
          <p:cNvSpPr/>
          <p:nvPr/>
        </p:nvSpPr>
        <p:spPr>
          <a:xfrm>
            <a:off x="1460500" y="5651500"/>
            <a:ext cx="5016500" cy="34925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sz="1700" b="1">
                <a:solidFill>
                  <a:srgbClr val="22C55E"/>
                </a:solidFill>
                <a:latin typeface="Antonio Bold" panose="020B0604020202020204" charset="0"/>
              </a:rPr>
              <a:t>STEP 4 : Dynamic Threat Scoring</a:t>
            </a:r>
          </a:p>
          <a:p>
            <a:pPr algn="ctr"/>
            <a:endParaRPr lang="en-US" sz="1700" b="1">
              <a:solidFill>
                <a:srgbClr val="22C55E"/>
              </a:solidFill>
              <a:latin typeface="Antonio Bold" panose="020B0604020202020204" charset="0"/>
            </a:endParaRPr>
          </a:p>
          <a:p>
            <a:pPr algn="ctr"/>
            <a:r>
              <a:rPr lang="en-US" sz="1400">
                <a:solidFill>
                  <a:srgbClr val="E2E8F0"/>
                </a:solidFill>
                <a:latin typeface="Segoe UI" panose="020B0502040204020203" pitchFamily="34" charset="0"/>
              </a:rPr>
              <a:t>ThreatScoringEngine aggregates detection signals and evaluates a composite 0-100 severity score with recommended action.</a:t>
            </a:r>
          </a:p>
        </p:txBody>
      </p:sp>
      <p:sp>
        <p:nvSpPr>
          <p:cNvPr id="7" name="Rectangle: Rounded Corners 6">
            <a:extLst>
              <a:ext uri="{FF2B5EF4-FFF2-40B4-BE49-F238E27FC236}">
                <a16:creationId xmlns:a16="http://schemas.microsoft.com/office/drawing/2014/main" id="{68D70F8D-F5E1-8015-956A-384865F02C9E}"/>
              </a:ext>
            </a:extLst>
          </p:cNvPr>
          <p:cNvSpPr/>
          <p:nvPr/>
        </p:nvSpPr>
        <p:spPr>
          <a:xfrm>
            <a:off x="6921500" y="5651500"/>
            <a:ext cx="5016500" cy="34925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sz="1700" b="1">
                <a:solidFill>
                  <a:srgbClr val="06B6D4"/>
                </a:solidFill>
                <a:latin typeface="Antonio Bold" panose="020B0604020202020204" charset="0"/>
              </a:rPr>
              <a:t>STEP 5 : Automated Policy Action</a:t>
            </a:r>
          </a:p>
          <a:p>
            <a:pPr algn="ctr"/>
            <a:endParaRPr lang="en-US" sz="1700" b="1">
              <a:solidFill>
                <a:srgbClr val="06B6D4"/>
              </a:solidFill>
              <a:latin typeface="Antonio Bold" panose="020B0604020202020204" charset="0"/>
            </a:endParaRPr>
          </a:p>
          <a:p>
            <a:pPr algn="ctr"/>
            <a:r>
              <a:rPr lang="en-US" sz="1400">
                <a:solidFill>
                  <a:srgbClr val="E2E8F0"/>
                </a:solidFill>
                <a:latin typeface="Segoe UI" panose="020B0502040204020203" pitchFamily="34" charset="0"/>
              </a:rPr>
              <a:t>PolicyEngine decides verdict: ALLOWED (forwarded to downstream handler), RATE_LIMITED (HTTP 429), or BLOCKED (HTTP 403 Forbidden).</a:t>
            </a:r>
          </a:p>
        </p:txBody>
      </p:sp>
      <p:sp>
        <p:nvSpPr>
          <p:cNvPr id="8" name="Rectangle: Rounded Corners 7">
            <a:extLst>
              <a:ext uri="{FF2B5EF4-FFF2-40B4-BE49-F238E27FC236}">
                <a16:creationId xmlns:a16="http://schemas.microsoft.com/office/drawing/2014/main" id="{EFC83EB7-A69E-0ACB-CB47-D09B79B5A046}"/>
              </a:ext>
            </a:extLst>
          </p:cNvPr>
          <p:cNvSpPr/>
          <p:nvPr/>
        </p:nvSpPr>
        <p:spPr>
          <a:xfrm>
            <a:off x="12382500" y="5651500"/>
            <a:ext cx="5016500" cy="34925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ctr"/>
          <a:lstStyle/>
          <a:p>
            <a:pPr algn="ctr"/>
            <a:r>
              <a:rPr lang="en-US" sz="1700" b="1">
                <a:solidFill>
                  <a:srgbClr val="22C55E"/>
                </a:solidFill>
                <a:latin typeface="Antonio Bold" panose="020B0604020202020204" charset="0"/>
              </a:rPr>
              <a:t>STEP 6 : Forensic Log &amp; SOC Update</a:t>
            </a:r>
          </a:p>
          <a:p>
            <a:pPr algn="ctr"/>
            <a:endParaRPr lang="en-US" sz="1700" b="1">
              <a:solidFill>
                <a:srgbClr val="22C55E"/>
              </a:solidFill>
              <a:latin typeface="Antonio Bold" panose="020B0604020202020204" charset="0"/>
            </a:endParaRPr>
          </a:p>
          <a:p>
            <a:pPr algn="ctr"/>
            <a:r>
              <a:rPr lang="en-US" sz="1400">
                <a:solidFill>
                  <a:srgbClr val="E2E8F0"/>
                </a:solidFill>
                <a:latin typeface="Segoe UI" panose="020B0502040204020203" pitchFamily="34" charset="0"/>
              </a:rPr>
              <a:t>Request audit details and forensic evidence are persisted to PostgreSQL and pushed live to the SOC Dashboard in real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SLIDE 5 : PROJECT SNAPSHOTS</a:t>
            </a:r>
          </a:p>
        </p:txBody>
      </p:sp>
      <p:sp>
        <p:nvSpPr>
          <p:cNvPr id="2" name="Rectangle: Rounded Corners 1">
            <a:extLst>
              <a:ext uri="{FF2B5EF4-FFF2-40B4-BE49-F238E27FC236}">
                <a16:creationId xmlns:a16="http://schemas.microsoft.com/office/drawing/2014/main" id="{77060A66-6286-A6AF-B687-C14C34049581}"/>
              </a:ext>
            </a:extLst>
          </p:cNvPr>
          <p:cNvSpPr/>
          <p:nvPr/>
        </p:nvSpPr>
        <p:spPr>
          <a:xfrm>
            <a:off x="1460500" y="1778000"/>
            <a:ext cx="7747000" cy="60960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058EE0-1423-D7C2-F0D5-1C9B7BE81A9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587500" y="1905000"/>
            <a:ext cx="7493000" cy="4381500"/>
          </a:xfrm>
          <a:prstGeom prst="rect">
            <a:avLst/>
          </a:prstGeom>
        </p:spPr>
      </p:pic>
      <p:sp>
        <p:nvSpPr>
          <p:cNvPr id="6" name="TextBox 5">
            <a:extLst>
              <a:ext uri="{FF2B5EF4-FFF2-40B4-BE49-F238E27FC236}">
                <a16:creationId xmlns:a16="http://schemas.microsoft.com/office/drawing/2014/main" id="{DD273FCC-5394-E39B-BEBF-C6803BB2D86A}"/>
              </a:ext>
            </a:extLst>
          </p:cNvPr>
          <p:cNvSpPr txBox="1"/>
          <p:nvPr/>
        </p:nvSpPr>
        <p:spPr>
          <a:xfrm>
            <a:off x="1587500" y="6413500"/>
            <a:ext cx="7493000" cy="723275"/>
          </a:xfrm>
          <a:prstGeom prst="rect">
            <a:avLst/>
          </a:prstGeom>
          <a:noFill/>
        </p:spPr>
        <p:txBody>
          <a:bodyPr vert="horz" rtlCol="0">
            <a:spAutoFit/>
          </a:bodyPr>
          <a:lstStyle/>
          <a:p>
            <a:r>
              <a:rPr lang="en-US" sz="1600" b="1">
                <a:solidFill>
                  <a:srgbClr val="06B6D4"/>
                </a:solidFill>
                <a:latin typeface="Antonio Bold" panose="020B0604020202020204" charset="0"/>
              </a:rPr>
              <a:t>Security Operations Center (SOC) Dashboard</a:t>
            </a:r>
          </a:p>
          <a:p>
            <a:r>
              <a:rPr lang="en-US" sz="1250">
                <a:solidFill>
                  <a:srgbClr val="E2E8F0"/>
                </a:solidFill>
                <a:latin typeface="Segoe UI" panose="020B0502040204020203" pitchFamily="34" charset="0"/>
              </a:rPr>
              <a:t>Real-time traffic health ratios, threat severity composition, average risk scores, and live incident telemetry feed connected to Render PostgreSQL.</a:t>
            </a:r>
          </a:p>
        </p:txBody>
      </p:sp>
      <p:sp>
        <p:nvSpPr>
          <p:cNvPr id="7" name="Rectangle: Rounded Corners 6">
            <a:extLst>
              <a:ext uri="{FF2B5EF4-FFF2-40B4-BE49-F238E27FC236}">
                <a16:creationId xmlns:a16="http://schemas.microsoft.com/office/drawing/2014/main" id="{D190DA65-F694-2FF5-6E20-E3BB3AC50BDE}"/>
              </a:ext>
            </a:extLst>
          </p:cNvPr>
          <p:cNvSpPr/>
          <p:nvPr/>
        </p:nvSpPr>
        <p:spPr>
          <a:xfrm>
            <a:off x="9652000" y="1778000"/>
            <a:ext cx="7747000" cy="60960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51E255F-F1BE-EA11-AD0E-5DC05966F6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779000" y="1905000"/>
            <a:ext cx="7493000" cy="4381500"/>
          </a:xfrm>
          <a:prstGeom prst="rect">
            <a:avLst/>
          </a:prstGeom>
        </p:spPr>
      </p:pic>
      <p:sp>
        <p:nvSpPr>
          <p:cNvPr id="10" name="TextBox 9">
            <a:extLst>
              <a:ext uri="{FF2B5EF4-FFF2-40B4-BE49-F238E27FC236}">
                <a16:creationId xmlns:a16="http://schemas.microsoft.com/office/drawing/2014/main" id="{DE0D7997-6453-1848-3F2D-39B035C69A1A}"/>
              </a:ext>
            </a:extLst>
          </p:cNvPr>
          <p:cNvSpPr txBox="1"/>
          <p:nvPr/>
        </p:nvSpPr>
        <p:spPr>
          <a:xfrm>
            <a:off x="9779000" y="6413500"/>
            <a:ext cx="7493000" cy="723275"/>
          </a:xfrm>
          <a:prstGeom prst="rect">
            <a:avLst/>
          </a:prstGeom>
          <a:noFill/>
        </p:spPr>
        <p:txBody>
          <a:bodyPr vert="horz" rtlCol="0">
            <a:spAutoFit/>
          </a:bodyPr>
          <a:lstStyle/>
          <a:p>
            <a:r>
              <a:rPr lang="en-US" sz="1600" b="1">
                <a:solidFill>
                  <a:srgbClr val="22C55E"/>
                </a:solidFill>
                <a:latin typeface="Antonio Bold" panose="020B0604020202020204" charset="0"/>
              </a:rPr>
              <a:t>Interactive Attack Simulator &amp; Forensic Inspector</a:t>
            </a:r>
          </a:p>
          <a:p>
            <a:r>
              <a:rPr lang="en-US" sz="1250">
                <a:solidFill>
                  <a:srgbClr val="E2E8F0"/>
                </a:solidFill>
                <a:latin typeface="Segoe UI" panose="020B0502040204020203" pitchFamily="34" charset="0"/>
              </a:rPr>
              <a:t>Simulates OWASP attack vectors (SQLi, IDOR/BOLA, Brute Force) against live APIs; verifies instantaneous detection, threat scoring, and gateway mitigation.</a:t>
            </a:r>
          </a:p>
        </p:txBody>
      </p:sp>
      <p:sp>
        <p:nvSpPr>
          <p:cNvPr id="11" name="Rectangle: Rounded Corners 10">
            <a:extLst>
              <a:ext uri="{FF2B5EF4-FFF2-40B4-BE49-F238E27FC236}">
                <a16:creationId xmlns:a16="http://schemas.microsoft.com/office/drawing/2014/main" id="{3CFC6DFF-AA2E-2DD4-19B6-A668295E2887}"/>
              </a:ext>
            </a:extLst>
          </p:cNvPr>
          <p:cNvSpPr/>
          <p:nvPr/>
        </p:nvSpPr>
        <p:spPr>
          <a:xfrm>
            <a:off x="1460500" y="8064500"/>
            <a:ext cx="15938500" cy="1143000"/>
          </a:xfrm>
          <a:prstGeom prst="roundRect">
            <a:avLst/>
          </a:prstGeom>
          <a:solidFill>
            <a:srgbClr val="0F172A"/>
          </a:solidFill>
          <a:ln w="19050">
            <a:solidFill>
              <a:srgbClr val="0E7490"/>
            </a:solidFill>
          </a:ln>
        </p:spPr>
        <p:style>
          <a:lnRef idx="2">
            <a:schemeClr val="accent1">
              <a:shade val="15000"/>
            </a:schemeClr>
          </a:lnRef>
          <a:fillRef idx="1">
            <a:schemeClr val="accent1"/>
          </a:fillRef>
          <a:effectRef idx="0">
            <a:schemeClr val="accent1"/>
          </a:effectRef>
          <a:fontRef idx="minor">
            <a:schemeClr val="lt1"/>
          </a:fontRef>
        </p:style>
        <p:txBody>
          <a:bodyPr lIns="317500" tIns="190500" rtlCol="0" anchor="ctr"/>
          <a:lstStyle/>
          <a:p>
            <a:pPr algn="ctr"/>
            <a:r>
              <a:rPr lang="en-US" sz="1400" b="1">
                <a:solidFill>
                  <a:srgbClr val="22C55E"/>
                </a:solidFill>
                <a:latin typeface="Antonio Bold" panose="020B0604020202020204" charset="0"/>
              </a:rPr>
              <a:t>LIVE DEPLOYED DEMO LINKS (CLICKABLE IN SUBMISSION) :</a:t>
            </a:r>
          </a:p>
          <a:p>
            <a:pPr algn="ctr"/>
            <a:r>
              <a:rPr lang="en-US" sz="1300" b="1">
                <a:solidFill>
                  <a:srgbClr val="FFFFFF"/>
                </a:solidFill>
                <a:latin typeface="Segoe UI" panose="020B0502040204020203" pitchFamily="34" charset="0"/>
              </a:rPr>
              <a:t>Frontend: https://apisentinel-psi.vercel.app   |   Backend API: https://api-backend-wc8m.onrender.com   |   GitHub: https://github.com/Yokeshwaran03-2005/API-SENTINEL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7065580" cy="1203328"/>
          </a:xfrm>
          <a:prstGeom prst="rect">
            <a:avLst/>
          </a:prstGeom>
        </p:spPr>
        <p:txBody>
          <a:bodyPr lIns="0" tIns="0" rIns="0" bIns="0" rtlCol="0" anchor="t">
            <a:spAutoFit/>
          </a:bodyPr>
          <a:lstStyle/>
          <a:p>
            <a:pPr algn="l">
              <a:lnSpc>
                <a:spcPts val="9350"/>
              </a:lnSpc>
            </a:pPr>
            <a:r>
              <a:rPr lang="en-US" sz="8500" b="1" spc="-212">
                <a:solidFill>
                  <a:srgbClr val="FFFFFF"/>
                </a:solidFill>
                <a:latin typeface="Antonio Bold"/>
                <a:ea typeface="Antonio Bold"/>
                <a:cs typeface="Antonio Bold"/>
                <a:sym typeface="Antonio Bold"/>
              </a:rPr>
              <a:t>SLIDE 6 : FEASIBILITY/VIABILITY AND IMPACT</a:t>
            </a:r>
          </a:p>
        </p:txBody>
      </p:sp>
      <p:sp>
        <p:nvSpPr>
          <p:cNvPr id="2" name="Rectangle: Rounded Corners 1">
            <a:extLst>
              <a:ext uri="{FF2B5EF4-FFF2-40B4-BE49-F238E27FC236}">
                <a16:creationId xmlns:a16="http://schemas.microsoft.com/office/drawing/2014/main" id="{78798578-FC5C-377F-0E76-8D93AAFCB353}"/>
              </a:ext>
            </a:extLst>
          </p:cNvPr>
          <p:cNvSpPr/>
          <p:nvPr/>
        </p:nvSpPr>
        <p:spPr>
          <a:xfrm>
            <a:off x="1460500" y="1778000"/>
            <a:ext cx="15938500" cy="22860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81000" tIns="190500" rIns="381000" rtlCol="0" anchor="ctr"/>
          <a:lstStyle/>
          <a:p>
            <a:pPr algn="ctr"/>
            <a:r>
              <a:rPr lang="en-US" b="1">
                <a:solidFill>
                  <a:srgbClr val="06B6D4"/>
                </a:solidFill>
                <a:latin typeface="Antonio Bold" panose="020B0604020202020204" charset="0"/>
              </a:rPr>
              <a:t>TECHNICAL FEASIBILITY &amp; CLOUD-NATIVE SCALABILITY</a:t>
            </a:r>
          </a:p>
          <a:p>
            <a:pPr algn="ctr"/>
            <a:r>
              <a:rPr lang="en-US" sz="1350">
                <a:solidFill>
                  <a:srgbClr val="E2E8F0"/>
                </a:solidFill>
                <a:latin typeface="Segoe UI" panose="020B0502040204020203" pitchFamily="34" charset="0"/>
              </a:rPr>
              <a:t>- High Efficiency: Sub-5ms latency overhead per evaluation ensures near-zero performance degradation for high-traffic APIs.</a:t>
            </a:r>
          </a:p>
          <a:p>
            <a:pPr algn="ctr"/>
            <a:r>
              <a:rPr lang="en-US" sz="1350">
                <a:solidFill>
                  <a:srgbClr val="E2E8F0"/>
                </a:solidFill>
                <a:latin typeface="Segoe UI" panose="020B0502040204020203" pitchFamily="34" charset="0"/>
              </a:rPr>
              <a:t>- Flexible Deployment: Can run as an independent API Gateway reverse proxy, a sidecar container in Kubernetes pods, or an embedded Spring filter.</a:t>
            </a:r>
          </a:p>
          <a:p>
            <a:pPr algn="ctr"/>
            <a:r>
              <a:rPr lang="en-US" sz="1350">
                <a:solidFill>
                  <a:srgbClr val="E2E8F0"/>
                </a:solidFill>
                <a:latin typeface="Segoe UI" panose="020B0502040204020203" pitchFamily="34" charset="0"/>
              </a:rPr>
              <a:t>- Containerized &amp; Portable: Packaged via multi-stage Docker builds; runs on AWS, Render, Google Cloud, or on-premise infrastructure.</a:t>
            </a:r>
          </a:p>
        </p:txBody>
      </p:sp>
      <p:sp>
        <p:nvSpPr>
          <p:cNvPr id="3" name="Rectangle: Rounded Corners 2">
            <a:extLst>
              <a:ext uri="{FF2B5EF4-FFF2-40B4-BE49-F238E27FC236}">
                <a16:creationId xmlns:a16="http://schemas.microsoft.com/office/drawing/2014/main" id="{42DB3F04-153A-D773-4F81-AA63326448AD}"/>
              </a:ext>
            </a:extLst>
          </p:cNvPr>
          <p:cNvSpPr/>
          <p:nvPr/>
        </p:nvSpPr>
        <p:spPr>
          <a:xfrm>
            <a:off x="1460500" y="4318000"/>
            <a:ext cx="15938500" cy="2286000"/>
          </a:xfrm>
          <a:prstGeom prst="roundRect">
            <a:avLst/>
          </a:prstGeom>
          <a:solidFill>
            <a:srgbClr val="111827"/>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lIns="381000" tIns="190500" rIns="381000" rtlCol="0" anchor="ctr"/>
          <a:lstStyle/>
          <a:p>
            <a:pPr algn="ctr"/>
            <a:r>
              <a:rPr lang="en-US" b="1">
                <a:solidFill>
                  <a:srgbClr val="22C55E"/>
                </a:solidFill>
                <a:latin typeface="Antonio Bold" panose="020B0604020202020204" charset="0"/>
              </a:rPr>
              <a:t>COMMERCIAL VIABILITY &amp; MARKET ADOPTION</a:t>
            </a:r>
          </a:p>
          <a:p>
            <a:pPr algn="ctr"/>
            <a:r>
              <a:rPr lang="en-US" sz="1350">
                <a:solidFill>
                  <a:srgbClr val="E2E8F0"/>
                </a:solidFill>
                <a:latin typeface="Segoe UI" panose="020B0502040204020203" pitchFamily="34" charset="0"/>
              </a:rPr>
              <a:t>- Exploding Market Demand: API attacks surged over 400% YoY, rendering standard IP-based firewalls obsolete against application-layer abuse.</a:t>
            </a:r>
          </a:p>
          <a:p>
            <a:pPr algn="ctr"/>
            <a:r>
              <a:rPr lang="en-US" sz="1350">
                <a:solidFill>
                  <a:srgbClr val="E2E8F0"/>
                </a:solidFill>
                <a:latin typeface="Segoe UI" panose="020B0502040204020203" pitchFamily="34" charset="0"/>
              </a:rPr>
              <a:t>- Cost-Effective Alternative: Replaces bulky multi-thousand dollar enterprise WAF appliances with lightweight, software-defined API defense.</a:t>
            </a:r>
          </a:p>
          <a:p>
            <a:pPr algn="ctr"/>
            <a:r>
              <a:rPr lang="en-US" sz="1350">
                <a:solidFill>
                  <a:srgbClr val="E2E8F0"/>
                </a:solidFill>
                <a:latin typeface="Segoe UI" panose="020B0502040204020203" pitchFamily="34" charset="0"/>
              </a:rPr>
              <a:t>- Sector Relevance: Direct applicability to Fintech (PSD2/Open Banking), Healthcare (HIPAA), E-Commerce, and SaaS API providers.</a:t>
            </a:r>
          </a:p>
        </p:txBody>
      </p:sp>
      <p:sp>
        <p:nvSpPr>
          <p:cNvPr id="5" name="Rectangle: Rounded Corners 4">
            <a:extLst>
              <a:ext uri="{FF2B5EF4-FFF2-40B4-BE49-F238E27FC236}">
                <a16:creationId xmlns:a16="http://schemas.microsoft.com/office/drawing/2014/main" id="{3FB84291-8E18-4FC8-72DA-494475E77EBD}"/>
              </a:ext>
            </a:extLst>
          </p:cNvPr>
          <p:cNvSpPr/>
          <p:nvPr/>
        </p:nvSpPr>
        <p:spPr>
          <a:xfrm>
            <a:off x="1460500" y="6858000"/>
            <a:ext cx="15938500" cy="2286000"/>
          </a:xfrm>
          <a:prstGeom prst="roundRect">
            <a:avLst/>
          </a:prstGeom>
          <a:solidFill>
            <a:srgbClr val="111827"/>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lIns="381000" tIns="190500" rIns="381000" rtlCol="0" anchor="ctr"/>
          <a:lstStyle/>
          <a:p>
            <a:pPr algn="ctr"/>
            <a:r>
              <a:rPr lang="en-US" b="1">
                <a:solidFill>
                  <a:srgbClr val="06B6D4"/>
                </a:solidFill>
                <a:latin typeface="Antonio Bold" panose="020B0604020202020204" charset="0"/>
              </a:rPr>
              <a:t>MEASURABLE IMPACT &amp; SOC EMPOWERMENT</a:t>
            </a:r>
          </a:p>
          <a:p>
            <a:pPr algn="ctr"/>
            <a:r>
              <a:rPr lang="en-US" sz="1350">
                <a:solidFill>
                  <a:srgbClr val="E2E8F0"/>
                </a:solidFill>
                <a:latin typeface="Segoe UI" panose="020B0502040204020203" pitchFamily="34" charset="0"/>
              </a:rPr>
              <a:t>- MTTD &amp; MTTR Drastically Reduced: Threat detection and automated mitigation drop from hours of manual log triage to under 100 milliseconds.</a:t>
            </a:r>
          </a:p>
          <a:p>
            <a:pPr algn="ctr"/>
            <a:r>
              <a:rPr lang="en-US" sz="1350">
                <a:solidFill>
                  <a:srgbClr val="E2E8F0"/>
                </a:solidFill>
                <a:latin typeface="Segoe UI" panose="020B0502040204020203" pitchFamily="34" charset="0"/>
              </a:rPr>
              <a:t>- 100% Autonomous Perimeter Defense: Prevents data exfiltration and unauthorized resource tampering before reaching backend services.</a:t>
            </a:r>
          </a:p>
          <a:p>
            <a:pPr algn="ctr"/>
            <a:r>
              <a:rPr lang="en-US" sz="1350">
                <a:solidFill>
                  <a:srgbClr val="E2E8F0"/>
                </a:solidFill>
                <a:latin typeface="Segoe UI" panose="020B0502040204020203" pitchFamily="34" charset="0"/>
              </a:rPr>
              <a:t>- Full Compliance Trail: Immutable audit logs in PostgreSQL simplify regulatory audits (SOC2 Type II, ISO 27001, and GDPR).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SLIDE 7 : REFERENCES</a:t>
            </a:r>
          </a:p>
        </p:txBody>
      </p:sp>
      <p:sp>
        <p:nvSpPr>
          <p:cNvPr id="2" name="Rectangle: Rounded Corners 1">
            <a:extLst>
              <a:ext uri="{FF2B5EF4-FFF2-40B4-BE49-F238E27FC236}">
                <a16:creationId xmlns:a16="http://schemas.microsoft.com/office/drawing/2014/main" id="{0BED8322-7BCD-8D36-F008-F068C358A8B7}"/>
              </a:ext>
            </a:extLst>
          </p:cNvPr>
          <p:cNvSpPr/>
          <p:nvPr/>
        </p:nvSpPr>
        <p:spPr>
          <a:xfrm>
            <a:off x="1460500" y="1905000"/>
            <a:ext cx="7683500" cy="7239000"/>
          </a:xfrm>
          <a:prstGeom prst="roundRect">
            <a:avLst/>
          </a:prstGeom>
          <a:solidFill>
            <a:srgbClr val="111827"/>
          </a:solidFill>
          <a:ln w="254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9782BE1-5F6A-2E44-28A1-E93E47F30566}"/>
              </a:ext>
            </a:extLst>
          </p:cNvPr>
          <p:cNvSpPr txBox="1"/>
          <p:nvPr/>
        </p:nvSpPr>
        <p:spPr>
          <a:xfrm>
            <a:off x="1841500" y="2222500"/>
            <a:ext cx="6921500" cy="669414"/>
          </a:xfrm>
          <a:prstGeom prst="rect">
            <a:avLst/>
          </a:prstGeom>
          <a:noFill/>
        </p:spPr>
        <p:txBody>
          <a:bodyPr vert="horz" rtlCol="0">
            <a:spAutoFit/>
          </a:bodyPr>
          <a:lstStyle/>
          <a:p>
            <a:r>
              <a:rPr lang="en-US" sz="2400" b="1">
                <a:solidFill>
                  <a:srgbClr val="22C55E"/>
                </a:solidFill>
                <a:latin typeface="Antonio Bold" panose="020B0604020202020204" charset="0"/>
              </a:rPr>
              <a:t>LIVE DEMO PLATFORM</a:t>
            </a:r>
          </a:p>
          <a:p>
            <a:r>
              <a:rPr lang="en-US" sz="1350" b="1">
                <a:solidFill>
                  <a:srgbClr val="06B6D4"/>
                </a:solidFill>
                <a:latin typeface="Segoe UI" panose="020B0502040204020203" pitchFamily="34" charset="0"/>
              </a:rPr>
              <a:t>Production Security Operations Center (SOC) on Vercel</a:t>
            </a:r>
          </a:p>
        </p:txBody>
      </p:sp>
      <p:sp>
        <p:nvSpPr>
          <p:cNvPr id="5" name="Rectangle: Rounded Corners 4">
            <a:hlinkClick r:id="rId2"/>
            <a:extLst>
              <a:ext uri="{FF2B5EF4-FFF2-40B4-BE49-F238E27FC236}">
                <a16:creationId xmlns:a16="http://schemas.microsoft.com/office/drawing/2014/main" id="{3026D008-2D1D-1733-DED1-70919402F2FB}"/>
              </a:ext>
            </a:extLst>
          </p:cNvPr>
          <p:cNvSpPr/>
          <p:nvPr/>
        </p:nvSpPr>
        <p:spPr>
          <a:xfrm>
            <a:off x="1841500" y="3175000"/>
            <a:ext cx="6921500" cy="635000"/>
          </a:xfrm>
          <a:prstGeom prst="roundRect">
            <a:avLst/>
          </a:prstGeom>
          <a:solidFill>
            <a:srgbClr val="0F172A"/>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https://apisentinel-psi.vercel.app</a:t>
            </a:r>
          </a:p>
        </p:txBody>
      </p:sp>
      <p:sp>
        <p:nvSpPr>
          <p:cNvPr id="6" name="TextBox 5">
            <a:extLst>
              <a:ext uri="{FF2B5EF4-FFF2-40B4-BE49-F238E27FC236}">
                <a16:creationId xmlns:a16="http://schemas.microsoft.com/office/drawing/2014/main" id="{9133F72B-CE81-6BF1-A96A-B9D8297AAC63}"/>
              </a:ext>
            </a:extLst>
          </p:cNvPr>
          <p:cNvSpPr txBox="1"/>
          <p:nvPr/>
        </p:nvSpPr>
        <p:spPr>
          <a:xfrm>
            <a:off x="1841500" y="4000500"/>
            <a:ext cx="6921500" cy="3254737"/>
          </a:xfrm>
          <a:prstGeom prst="rect">
            <a:avLst/>
          </a:prstGeom>
          <a:noFill/>
        </p:spPr>
        <p:txBody>
          <a:bodyPr vert="horz" rtlCol="0">
            <a:spAutoFit/>
          </a:bodyPr>
          <a:lstStyle/>
          <a:p>
            <a:r>
              <a:rPr lang="en-US" sz="1500" b="1">
                <a:solidFill>
                  <a:srgbClr val="22C55E"/>
                </a:solidFill>
                <a:latin typeface="Antonio Bold" panose="020B0604020202020204" charset="0"/>
              </a:rPr>
              <a:t>PLATFORM CAPABILITIES:</a:t>
            </a:r>
          </a:p>
          <a:p>
            <a:endParaRPr lang="en-US" sz="1500" b="1">
              <a:solidFill>
                <a:srgbClr val="22C55E"/>
              </a:solidFill>
              <a:latin typeface="Antonio Bold" panose="020B0604020202020204" charset="0"/>
            </a:endParaRPr>
          </a:p>
          <a:p>
            <a:r>
              <a:rPr lang="en-US" sz="1350">
                <a:solidFill>
                  <a:srgbClr val="E2E8F0"/>
                </a:solidFill>
                <a:latin typeface="Segoe UI" panose="020B0502040204020203" pitchFamily="34" charset="0"/>
              </a:rPr>
              <a:t>- Real-Time SOC Dashboard: Instant visibility into active threats, request verdicts, risk scores, and traffic health.</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Autonomous Policy Mitigation: Dynamic zero-trust blocking (HTTP 403) and rate limiting (HTTP 429).</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Interactive Attack Simulator: Test live OWASP payloads (SQLi, IDOR/BOLA, Brute Force) against protected endpoints.</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Forensic Request Inspector: Deep inspection of headers, masked credentials, and cached payload bodies.</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Cloud Deployment: High-availability edge hosting on Vercel.</a:t>
            </a:r>
          </a:p>
        </p:txBody>
      </p:sp>
      <p:sp>
        <p:nvSpPr>
          <p:cNvPr id="7" name="Rectangle: Rounded Corners 6">
            <a:extLst>
              <a:ext uri="{FF2B5EF4-FFF2-40B4-BE49-F238E27FC236}">
                <a16:creationId xmlns:a16="http://schemas.microsoft.com/office/drawing/2014/main" id="{7CCD105B-DFB8-D945-FAFB-532E30601A11}"/>
              </a:ext>
            </a:extLst>
          </p:cNvPr>
          <p:cNvSpPr/>
          <p:nvPr/>
        </p:nvSpPr>
        <p:spPr>
          <a:xfrm>
            <a:off x="9715500" y="1905000"/>
            <a:ext cx="7683500" cy="7239000"/>
          </a:xfrm>
          <a:prstGeom prst="roundRect">
            <a:avLst/>
          </a:prstGeom>
          <a:solidFill>
            <a:srgbClr val="111827"/>
          </a:solidFill>
          <a:ln w="2540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16997D-4EFC-F085-0715-9933EA35C05E}"/>
              </a:ext>
            </a:extLst>
          </p:cNvPr>
          <p:cNvSpPr txBox="1"/>
          <p:nvPr/>
        </p:nvSpPr>
        <p:spPr>
          <a:xfrm>
            <a:off x="10096500" y="2222500"/>
            <a:ext cx="6921500" cy="669414"/>
          </a:xfrm>
          <a:prstGeom prst="rect">
            <a:avLst/>
          </a:prstGeom>
          <a:noFill/>
        </p:spPr>
        <p:txBody>
          <a:bodyPr vert="horz" rtlCol="0">
            <a:spAutoFit/>
          </a:bodyPr>
          <a:lstStyle/>
          <a:p>
            <a:r>
              <a:rPr lang="en-US" sz="2400" b="1">
                <a:solidFill>
                  <a:srgbClr val="06B6D4"/>
                </a:solidFill>
                <a:latin typeface="Antonio Bold" panose="020B0604020202020204" charset="0"/>
              </a:rPr>
              <a:t>GITHUB REPOSITORY</a:t>
            </a:r>
          </a:p>
          <a:p>
            <a:r>
              <a:rPr lang="fr-FR" sz="1350" b="1">
                <a:solidFill>
                  <a:srgbClr val="22C55E"/>
                </a:solidFill>
                <a:latin typeface="Segoe UI" panose="020B0502040204020203" pitchFamily="34" charset="0"/>
              </a:rPr>
              <a:t>Public Monorepo &amp; Implementation Source Code</a:t>
            </a:r>
            <a:endParaRPr lang="en-US" sz="1350" b="1">
              <a:solidFill>
                <a:srgbClr val="22C55E"/>
              </a:solidFill>
              <a:latin typeface="Segoe UI" panose="020B0502040204020203" pitchFamily="34" charset="0"/>
            </a:endParaRPr>
          </a:p>
        </p:txBody>
      </p:sp>
      <p:sp>
        <p:nvSpPr>
          <p:cNvPr id="9" name="Rectangle: Rounded Corners 8">
            <a:hlinkClick r:id="rId3"/>
            <a:extLst>
              <a:ext uri="{FF2B5EF4-FFF2-40B4-BE49-F238E27FC236}">
                <a16:creationId xmlns:a16="http://schemas.microsoft.com/office/drawing/2014/main" id="{54BAB015-B0B2-86F6-1E5B-E79911E81D03}"/>
              </a:ext>
            </a:extLst>
          </p:cNvPr>
          <p:cNvSpPr/>
          <p:nvPr/>
        </p:nvSpPr>
        <p:spPr>
          <a:xfrm>
            <a:off x="10096500" y="3175000"/>
            <a:ext cx="6921500" cy="635000"/>
          </a:xfrm>
          <a:prstGeom prst="roundRect">
            <a:avLst/>
          </a:prstGeom>
          <a:solidFill>
            <a:srgbClr val="0F172A"/>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50" b="1">
                <a:solidFill>
                  <a:srgbClr val="FFFFFF"/>
                </a:solidFill>
                <a:latin typeface="Segoe UI" panose="020B0502040204020203" pitchFamily="34" charset="0"/>
              </a:rPr>
              <a:t>https://github.com/Yokeshwaran03-2005/API-SENTINEL</a:t>
            </a:r>
          </a:p>
        </p:txBody>
      </p:sp>
      <p:sp>
        <p:nvSpPr>
          <p:cNvPr id="10" name="TextBox 9">
            <a:extLst>
              <a:ext uri="{FF2B5EF4-FFF2-40B4-BE49-F238E27FC236}">
                <a16:creationId xmlns:a16="http://schemas.microsoft.com/office/drawing/2014/main" id="{31A6E7DC-9EC5-1723-8CD6-7CAAB8AF11EC}"/>
              </a:ext>
            </a:extLst>
          </p:cNvPr>
          <p:cNvSpPr txBox="1"/>
          <p:nvPr/>
        </p:nvSpPr>
        <p:spPr>
          <a:xfrm>
            <a:off x="10096500" y="4000500"/>
            <a:ext cx="6921500" cy="3046988"/>
          </a:xfrm>
          <a:prstGeom prst="rect">
            <a:avLst/>
          </a:prstGeom>
          <a:noFill/>
        </p:spPr>
        <p:txBody>
          <a:bodyPr vert="horz" rtlCol="0">
            <a:spAutoFit/>
          </a:bodyPr>
          <a:lstStyle/>
          <a:p>
            <a:r>
              <a:rPr lang="en-US" sz="1500" b="1">
                <a:solidFill>
                  <a:srgbClr val="06B6D4"/>
                </a:solidFill>
                <a:latin typeface="Antonio Bold" panose="020B0604020202020204" charset="0"/>
              </a:rPr>
              <a:t>REPOSITORY CONTENTS:</a:t>
            </a:r>
          </a:p>
          <a:p>
            <a:endParaRPr lang="en-US" sz="1500" b="1">
              <a:solidFill>
                <a:srgbClr val="06B6D4"/>
              </a:solidFill>
              <a:latin typeface="Antonio Bold" panose="020B0604020202020204" charset="0"/>
            </a:endParaRPr>
          </a:p>
          <a:p>
            <a:r>
              <a:rPr lang="en-US" sz="1350">
                <a:solidFill>
                  <a:srgbClr val="E2E8F0"/>
                </a:solidFill>
                <a:latin typeface="Segoe UI" panose="020B0502040204020203" pitchFamily="34" charset="0"/>
              </a:rPr>
              <a:t>- Unified Monorepo: Houses complete /backend, /frontend, /database, and container orchestration.</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Backend Gateway: Java 17 + Spring Boot 3.2 zero-trust servlet filter chain, heuristics &amp; scoring engine.</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Frontend Console: Next.js 14 App Router, TypeScript, Tailwind CSS, and Lucide icons.</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Comprehensive Documentation: Architecture diagrams, threat model specs, and local Docker Compose setup.</a:t>
            </a:r>
          </a:p>
          <a:p>
            <a:endParaRPr lang="en-US" sz="1350">
              <a:solidFill>
                <a:srgbClr val="E2E8F0"/>
              </a:solidFill>
              <a:latin typeface="Segoe UI" panose="020B0502040204020203" pitchFamily="34" charset="0"/>
            </a:endParaRPr>
          </a:p>
          <a:p>
            <a:r>
              <a:rPr lang="en-US" sz="1350">
                <a:solidFill>
                  <a:srgbClr val="E2E8F0"/>
                </a:solidFill>
                <a:latin typeface="Segoe UI" panose="020B0502040204020203" pitchFamily="34" charset="0"/>
              </a:rPr>
              <a:t>- Official Hackathon Submission: Built for INIT'26 by Team Phoenix.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1383</Words>
  <Application>Microsoft Office PowerPoint</Application>
  <PresentationFormat>Custom</PresentationFormat>
  <Paragraphs>131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Antonio Bold</vt:lpstr>
      <vt:lpstr>Segoe UI</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FOSS Workshop (1980 x 1080 px)</dc:title>
  <dc:creator>Prathamesh</dc:creator>
  <cp:lastModifiedBy>03. Yokesh Waran</cp:lastModifiedBy>
  <cp:revision>3</cp:revision>
  <dcterms:created xsi:type="dcterms:W3CDTF">2006-08-16T00:00:00Z</dcterms:created>
  <dcterms:modified xsi:type="dcterms:W3CDTF">2026-09-06T05:30:51Z</dcterms:modified>
  <dc:identifier>DAHRPhLBNzY</dc:identifier>
</cp:coreProperties>
</file>